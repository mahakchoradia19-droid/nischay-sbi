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914400"/>
            <a:ext cx="457200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0" b="1" dirty="0">
                <a:solidFill>
                  <a:srgbClr val="2A2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</a:t>
            </a:r>
            <a:endParaRPr lang="en-US" sz="40000" dirty="0"/>
          </a:p>
        </p:txBody>
      </p:sp>
      <p:sp>
        <p:nvSpPr>
          <p:cNvPr id="3" name="Text 1"/>
          <p:cNvSpPr/>
          <p:nvPr/>
        </p:nvSpPr>
        <p:spPr>
          <a:xfrm>
            <a:off x="640080" y="17373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SBI HACKATHON  ·  AGENTIC AI FOR FINANCIAL INCLUSION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2148840"/>
            <a:ext cx="10058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Nischay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640080" y="37033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bank that makes sure the money </a:t>
            </a:r>
            <a:pPr indent="0" marL="0">
              <a:buNone/>
            </a:pPr>
            <a:r>
              <a:rPr lang="en-US" sz="2800" i="1" dirty="0">
                <a:solidFill>
                  <a:srgbClr val="C46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lands</a:t>
            </a:r>
            <a:pPr indent="0" marL="0">
              <a:buNone/>
            </a:pPr>
            <a:r>
              <a:rPr lang="en-US" sz="2800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citizens the government money they're already owed — when a dormant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account, an unlinked Aadhaar, or a lapsed KYC would otherwise send it back.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5943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6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Mahak Choradia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money is approved.</a:t>
            </a:r>
            <a:endParaRPr lang="en-US" sz="3400" dirty="0"/>
          </a:p>
          <a:p>
            <a:pPr indent="0" marL="0">
              <a:lnSpc>
                <a:spcPts val="3570"/>
              </a:lnSpc>
              <a:buNone/>
            </a:pPr>
            <a:r>
              <a:rPr lang="en-US" sz="34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sent. It doesn't arrive.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6035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cycle, the government transfers money straight into people's accounts — PM-KISAN for a farmer, MGNREGS wages, a scholarship. It is sanctioned and on its way. For millions of families, it never lands.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4023360"/>
            <a:ext cx="6035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E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alarm rings. No one calls. </a:t>
            </a:r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it was meant for never learns it existed — and next cycle, it happens again.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589520" y="2377440"/>
            <a:ext cx="3749040" cy="2468880"/>
          </a:xfrm>
          <a:prstGeom prst="roundRect">
            <a:avLst>
              <a:gd name="adj" fmla="val 4444"/>
            </a:avLst>
          </a:prstGeom>
          <a:solidFill>
            <a:srgbClr val="F6F2EA"/>
          </a:solidFill>
          <a:ln w="12700">
            <a:solidFill>
              <a:srgbClr val="E2DACB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589520" y="269748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₹2,000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7589520" y="35204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3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PM-KISAN  ·  for Ramesh Kumar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 rot="-240000">
            <a:off x="8732520" y="4114800"/>
            <a:ext cx="1463040" cy="457200"/>
          </a:xfrm>
          <a:prstGeom prst="rect">
            <a:avLst/>
          </a:prstGeom>
          <a:solidFill>
            <a:srgbClr val="B23B32"/>
          </a:solidFill>
          <a:ln/>
        </p:spPr>
      </p:sp>
      <p:sp>
        <p:nvSpPr>
          <p:cNvPr id="10" name="Text 8"/>
          <p:cNvSpPr/>
          <p:nvPr/>
        </p:nvSpPr>
        <p:spPr>
          <a:xfrm rot="-240000">
            <a:off x="8732520" y="41148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HAPPENS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small, ordinary reasons.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685800" cy="685800"/>
          </a:xfrm>
          <a:prstGeom prst="ellipse">
            <a:avLst/>
          </a:prstGeom>
          <a:solidFill>
            <a:srgbClr val="C4694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28600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600200" y="2267712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account went dormant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600200" y="267004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Unused for months, so the credit is turned away or sits unclaimed.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685800" cy="685800"/>
          </a:xfrm>
          <a:prstGeom prst="ellipse">
            <a:avLst/>
          </a:prstGeom>
          <a:solidFill>
            <a:srgbClr val="C4694A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600200" y="3502152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Aadhaar was never linked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600200" y="390448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seeded in the mapper that routes the payment, so the rails reject it.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754880"/>
            <a:ext cx="685800" cy="685800"/>
          </a:xfrm>
          <a:prstGeom prst="ellipse">
            <a:avLst/>
          </a:prstGeom>
          <a:solidFill>
            <a:srgbClr val="C4694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75488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600200" y="4736592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KYC lapsed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600200" y="513892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periodic identity check expired, and the account froze against new credits.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95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these is fraud. None is the person's fault. </a:t>
            </a:r>
            <a:pPr indent="0" marL="0">
              <a:buNone/>
            </a:pPr>
            <a:r>
              <a:rPr lang="en-US" sz="155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bank's own systems can see every one of them, days before the cycle runs.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1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one bank can build this.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bank could write the software. It would then have nothing to run it on.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126480" y="24871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F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052560" y="24871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9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private bank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862072"/>
            <a:ext cx="10972800" cy="0"/>
          </a:xfrm>
          <a:prstGeom prst="line">
            <a:avLst/>
          </a:prstGeom>
          <a:noFill/>
          <a:ln w="12700">
            <a:solidFill>
              <a:srgbClr val="3A36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97180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6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the government's payments as they route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126480" y="29718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50" dirty="0">
                <a:solidFill>
                  <a:srgbClr val="F6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primary DBT pipeline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9052560" y="297180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23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indent="0" marL="0">
              <a:buNone/>
            </a:pPr>
            <a:r>
              <a:rPr lang="en-US" sz="1450" dirty="0">
                <a:solidFill>
                  <a:srgbClr val="9A9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equivalent access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3822192"/>
            <a:ext cx="10972800" cy="0"/>
          </a:xfrm>
          <a:prstGeom prst="line">
            <a:avLst/>
          </a:prstGeom>
          <a:noFill/>
          <a:ln w="12700">
            <a:solidFill>
              <a:srgbClr val="3A36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93192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6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at village-level density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6126480" y="393192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50" dirty="0">
                <a:solidFill>
                  <a:srgbClr val="F6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~53 crore, every district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9052560" y="393192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23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indent="0" marL="0">
              <a:buNone/>
            </a:pPr>
            <a:r>
              <a:rPr lang="en-US" sz="1450" dirty="0">
                <a:solidFill>
                  <a:srgbClr val="9A9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Urban-concentrated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4782312"/>
            <a:ext cx="10972800" cy="0"/>
          </a:xfrm>
          <a:prstGeom prst="line">
            <a:avLst/>
          </a:prstGeom>
          <a:noFill/>
          <a:ln w="12700">
            <a:solidFill>
              <a:srgbClr val="3A362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89204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6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mandate to fix inclusion gaps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126480" y="489204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50" dirty="0">
                <a:solidFill>
                  <a:srgbClr val="F6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Banker to the nation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9052560" y="48920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23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indent="0" marL="0">
              <a:buNone/>
            </a:pPr>
            <a:r>
              <a:rPr lang="en-US" sz="1450" dirty="0">
                <a:solidFill>
                  <a:srgbClr val="9A9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such mandate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126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46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sells nothing. It gets people money that is already theirs.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Notice. Reach. Fix by voice. Arrive.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777240" cy="777240"/>
          </a:xfrm>
          <a:prstGeom prst="ellipse">
            <a:avLst/>
          </a:prstGeom>
          <a:solidFill>
            <a:srgbClr val="C4694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4688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1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10" dirty="0"/>
          </a:p>
        </p:txBody>
      </p:sp>
      <p:sp>
        <p:nvSpPr>
          <p:cNvPr id="6" name="Text 4"/>
          <p:cNvSpPr/>
          <p:nvPr/>
        </p:nvSpPr>
        <p:spPr>
          <a:xfrm>
            <a:off x="1600200" y="2468880"/>
            <a:ext cx="1737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AD9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34290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Notice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02920" y="3886200"/>
            <a:ext cx="2514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before the cycle, flag every account that will bounce — and why.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29000" y="2468880"/>
            <a:ext cx="777240" cy="777240"/>
          </a:xfrm>
          <a:prstGeom prst="ellipse">
            <a:avLst/>
          </a:prstGeom>
          <a:solidFill>
            <a:srgbClr val="C4694A"/>
          </a:solidFill>
          <a:ln/>
        </p:spPr>
      </p:sp>
      <p:sp>
        <p:nvSpPr>
          <p:cNvPr id="10" name="Text 8"/>
          <p:cNvSpPr/>
          <p:nvPr/>
        </p:nvSpPr>
        <p:spPr>
          <a:xfrm>
            <a:off x="3429000" y="24688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1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10" dirty="0"/>
          </a:p>
        </p:txBody>
      </p:sp>
      <p:sp>
        <p:nvSpPr>
          <p:cNvPr id="11" name="Text 9"/>
          <p:cNvSpPr/>
          <p:nvPr/>
        </p:nvSpPr>
        <p:spPr>
          <a:xfrm>
            <a:off x="4389120" y="2468880"/>
            <a:ext cx="1737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AD9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291840" y="34290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Reach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291840" y="3886200"/>
            <a:ext cx="2514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 and a call in the person's own language, not an English app.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2468880"/>
            <a:ext cx="777240" cy="777240"/>
          </a:xfrm>
          <a:prstGeom prst="ellipse">
            <a:avLst/>
          </a:prstGeom>
          <a:solidFill>
            <a:srgbClr val="C4694A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24688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1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10" dirty="0"/>
          </a:p>
        </p:txBody>
      </p:sp>
      <p:sp>
        <p:nvSpPr>
          <p:cNvPr id="16" name="Text 14"/>
          <p:cNvSpPr/>
          <p:nvPr/>
        </p:nvSpPr>
        <p:spPr>
          <a:xfrm>
            <a:off x="7178040" y="2468880"/>
            <a:ext cx="1737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AD9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080760" y="34290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by voice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6080760" y="3886200"/>
            <a:ext cx="2514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voice agent re-verifies identity out loud and self-heals name mismatches.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006840" y="2468880"/>
            <a:ext cx="777240" cy="777240"/>
          </a:xfrm>
          <a:prstGeom prst="ellipse">
            <a:avLst/>
          </a:prstGeom>
          <a:solidFill>
            <a:srgbClr val="C4694A"/>
          </a:solidFill>
          <a:ln/>
        </p:spPr>
      </p:sp>
      <p:sp>
        <p:nvSpPr>
          <p:cNvPr id="20" name="Text 18"/>
          <p:cNvSpPr/>
          <p:nvPr/>
        </p:nvSpPr>
        <p:spPr>
          <a:xfrm>
            <a:off x="9006840" y="24688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1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10" dirty="0"/>
          </a:p>
        </p:txBody>
      </p:sp>
      <p:sp>
        <p:nvSpPr>
          <p:cNvPr id="21" name="Text 19"/>
          <p:cNvSpPr/>
          <p:nvPr/>
        </p:nvSpPr>
        <p:spPr>
          <a:xfrm>
            <a:off x="8869680" y="34290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Arrive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8869680" y="3886200"/>
            <a:ext cx="2514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is live when the cycle runs. The money lands.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566928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F6F2EA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56692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this is a boring, auditable database check — deliberately. </a:t>
            </a:r>
            <a:pPr indent="0" marL="0">
              <a:buNone/>
            </a:pPr>
            <a:r>
              <a:rPr lang="en-US" sz="15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is concentrated in exactly one place: the last hundred metres, fixing the account without a branch visit.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AI IS — AND ISN'T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can talk.</a:t>
            </a:r>
            <a:endParaRPr lang="en-US" sz="3400" dirty="0"/>
          </a:p>
          <a:p>
            <a:pPr indent="0" marL="0">
              <a:lnSpc>
                <a:spcPts val="3570"/>
              </a:lnSpc>
              <a:buNone/>
            </a:pPr>
            <a:r>
              <a:rPr lang="en-US" sz="34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cannot open the gate.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514600"/>
            <a:ext cx="6035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conversation re-skins the mandatory verification steps; it removes none of them. Every consequential decision runs through deterministic code — a gate the conversational layer cannot talk its way past.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6035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agent's powers are tiny and closed: verify identity, reactivate an account. It never moves money. Anything ambiguous defaults to a human.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498080" y="2468880"/>
            <a:ext cx="3931920" cy="2743200"/>
          </a:xfrm>
          <a:prstGeom prst="roundRect">
            <a:avLst>
              <a:gd name="adj" fmla="val 4000"/>
            </a:avLst>
          </a:prstGeom>
          <a:solidFill>
            <a:srgbClr val="F6F2EA"/>
          </a:solidFill>
          <a:ln w="12700">
            <a:solidFill>
              <a:srgbClr val="E2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18120" y="274320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F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550" dirty="0">
                <a:solidFill>
                  <a:srgbClr val="1E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reconciled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818120" y="32461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F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550" dirty="0">
                <a:solidFill>
                  <a:srgbClr val="1E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clear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818120" y="37490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F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550" dirty="0">
                <a:solidFill>
                  <a:srgbClr val="1E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confirmed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7818120" y="4343400"/>
            <a:ext cx="3291840" cy="0"/>
          </a:xfrm>
          <a:prstGeom prst="line">
            <a:avLst/>
          </a:prstGeom>
          <a:noFill/>
          <a:ln w="12700">
            <a:solidFill>
              <a:srgbClr val="E2DA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18120" y="4480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37C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→ </a:t>
            </a:r>
            <a:pPr indent="0" marL="0">
              <a:buNone/>
            </a:pPr>
            <a:r>
              <a:rPr lang="en-US" sz="1800" b="1" dirty="0">
                <a:solidFill>
                  <a:srgbClr val="5F6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20% we can't fix — and we say so.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65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that claims to save everyone hasn't met the real world. Ours names its limits out loud and routes those cases to a human, on purpose.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5212080" cy="2377440"/>
          </a:xfrm>
          <a:prstGeom prst="roundRect">
            <a:avLst>
              <a:gd name="adj" fmla="val 3846"/>
            </a:avLst>
          </a:prstGeom>
          <a:solidFill>
            <a:srgbClr val="F6F2EA"/>
          </a:solidFill>
          <a:ln w="12700">
            <a:solidFill>
              <a:srgbClr val="E2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34747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95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phone at all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60120" y="4023360"/>
            <a:ext cx="4617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be reached digitally. Flagged for the next banking camp — with a pre-filled paper form ready before the team arrives.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72200" y="3200400"/>
            <a:ext cx="5212080" cy="2377440"/>
          </a:xfrm>
          <a:prstGeom prst="roundRect">
            <a:avLst>
              <a:gd name="adj" fmla="val 3846"/>
            </a:avLst>
          </a:prstGeom>
          <a:solidFill>
            <a:srgbClr val="F6F2EA"/>
          </a:solidFill>
          <a:ln w="12700">
            <a:solidFill>
              <a:srgbClr val="E2DA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34747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95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Genuine identity conflict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92240" y="4023360"/>
            <a:ext cx="4617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documents, genuinely different names. The gate refuses to auto-reactivate; a human officer reviews it.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Volunteering the boundary of your own system is the strongest signal of maturity there is — and almost no one does it.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1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GRADES ITSELF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150"/>
              </a:lnSpc>
              <a:buNone/>
            </a:pPr>
            <a:r>
              <a:rPr lang="en-US" sz="30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report the number that</a:t>
            </a:r>
            <a:endParaRPr lang="en-US" sz="3000" dirty="0"/>
          </a:p>
          <a:p>
            <a:pPr indent="0" marL="0">
              <a:lnSpc>
                <a:spcPts val="3150"/>
              </a:lnSpc>
              <a:buNone/>
            </a:pPr>
            <a:r>
              <a:rPr lang="en-US" sz="30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makes us look worse.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74320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98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37947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accuracy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3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good — is misleading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97680" y="274320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5F6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86%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4297680" y="37947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on the riskiest 10%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297680" y="41148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3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matters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0" y="274320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5F6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2.1×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7955280" y="37947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than chance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955280" y="41148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3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over the base rate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51206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a calibration curve and a Brier score — not one flattering figure. A system that will touch entitlements must volunteer its own scorecard. This one does, by construction.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IT'S WORTH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rescue, three returns.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83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FAMILY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46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₹2,000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370332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season's seed, a school fee on time, a loan not taken from a moneylender.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4297680" y="22860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83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SBI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297680" y="26517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5F6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~47×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4297680" y="370332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in a modelled district — ₹8L of outreach unlocks ₹3.8Cr, with zero cross-sell.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7955280" y="22860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83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COUNTRY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955280" y="26517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B48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layer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7955280" y="370332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guarantees delivery of the welfare state — a position only SBI can hold.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3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are computed by the same code that runs the demo — conservative, and re-derivable, not slideware.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MOCKUP — IT RUNS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Built, tested, and live on the web.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457200" cy="457200"/>
          </a:xfrm>
          <a:prstGeom prst="ellipse">
            <a:avLst/>
          </a:prstGeom>
          <a:solidFill>
            <a:srgbClr val="EAD9C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5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▸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280160" y="22402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now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280160" y="265176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~2-min film explains it from scratch, narrated in real Indian voices, at a public URL — nothing to install.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72200" y="2286000"/>
            <a:ext cx="457200" cy="457200"/>
          </a:xfrm>
          <a:prstGeom prst="ellipse">
            <a:avLst/>
          </a:prstGeom>
          <a:solidFill>
            <a:srgbClr val="EAD9CF"/>
          </a:solidFill>
          <a:ln/>
        </p:spPr>
      </p:sp>
      <p:sp>
        <p:nvSpPr>
          <p:cNvPr id="9" name="Text 7"/>
          <p:cNvSpPr/>
          <p:nvPr/>
        </p:nvSpPr>
        <p:spPr>
          <a:xfrm>
            <a:off x="617220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5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12280" y="22402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logic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812280" y="265176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reconciliation and the reactivation gate are real server code; you can watch the match score in the trace.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977640"/>
            <a:ext cx="457200" cy="457200"/>
          </a:xfrm>
          <a:prstGeom prst="ellipse">
            <a:avLst/>
          </a:prstGeom>
          <a:solidFill>
            <a:srgbClr val="EAD9C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5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80160" y="39319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 tests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280160" y="434340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+ a security attack-pass, on CI. Runs identically on any machine with Python — auto-picks a free port.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72200" y="3977640"/>
            <a:ext cx="457200" cy="457200"/>
          </a:xfrm>
          <a:prstGeom prst="ellipse">
            <a:avLst/>
          </a:prstGeom>
          <a:solidFill>
            <a:srgbClr val="EAD9CF"/>
          </a:solidFill>
          <a:ln/>
        </p:spPr>
      </p:sp>
      <p:sp>
        <p:nvSpPr>
          <p:cNvPr id="17" name="Text 15"/>
          <p:cNvSpPr/>
          <p:nvPr/>
        </p:nvSpPr>
        <p:spPr>
          <a:xfrm>
            <a:off x="6172200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5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12280" y="39319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812280" y="434340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data, labelled as such on every screen. The logic and the voice are real; only the people are simulated.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806440"/>
            <a:ext cx="10881360" cy="594360"/>
          </a:xfrm>
          <a:prstGeom prst="roundRect">
            <a:avLst>
              <a:gd name="adj" fmla="val 15385"/>
            </a:avLst>
          </a:prstGeom>
          <a:solidFill>
            <a:srgbClr val="1E1B16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580644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D9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github.com/mahakchoradia19-droid/nischay-sbi</a:t>
            </a:r>
            <a:pPr indent="0" marL="0">
              <a:buNone/>
            </a:pPr>
            <a:r>
              <a:rPr lang="en-US" sz="1350" dirty="0">
                <a:solidFill>
                  <a:srgbClr val="C9C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·     python3 app.py     ·     one-click deploy to Render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district. One cycle.</a:t>
            </a:r>
            <a:endParaRPr lang="en-US" sz="3400" dirty="0"/>
          </a:p>
          <a:p>
            <a:pPr indent="0" marL="0">
              <a:lnSpc>
                <a:spcPts val="3570"/>
              </a:lnSpc>
              <a:buNone/>
            </a:pPr>
            <a:r>
              <a:rPr lang="en-US" sz="34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honestly.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6517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90-day pilot in a single SLBC lead-bank district, with properly permissioned access to the DBT rejection feed and account KYC status.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2A2620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4023360"/>
            <a:ext cx="10149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3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metric that matters isn't “how many did we rescue.” It is: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443484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months later — is the account still active, and did the next payment land on its own?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rescuing money once is a demo. Making sure a family never misses a payment again is infrastructure.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097280" y="1097280"/>
            <a:ext cx="548640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0" b="1" dirty="0">
                <a:solidFill>
                  <a:srgbClr val="2A2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</a:t>
            </a:r>
            <a:endParaRPr lang="en-US" sz="400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C9C2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SBI already holds the nation's money.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324612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makes SBI the bank that </a:t>
            </a:r>
            <a:pPr indent="0" marL="0">
              <a:lnSpc>
                <a:spcPts val="4800"/>
              </a:lnSpc>
              <a:buNone/>
            </a:pPr>
            <a:r>
              <a:rPr lang="en-US" sz="4400" b="1" i="1" dirty="0">
                <a:solidFill>
                  <a:srgbClr val="C46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guarantees it lands</a:t>
            </a:r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530352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Nischay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0" y="54406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3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SBI Hackathon  ·  Mahak Choradia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2026-07-04T16:26:07Z</dcterms:created>
  <dcterms:modified xsi:type="dcterms:W3CDTF">2026-07-04T16:26:07Z</dcterms:modified>
</cp:coreProperties>
</file>